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ecalotype Semi-Bold" charset="1" panose="00000700000000000000"/>
      <p:regular r:id="rId18"/>
    </p:embeddedFont>
    <p:embeddedFont>
      <p:font typeface="Decalotype Light" charset="1" panose="00000400000000000000"/>
      <p:regular r:id="rId19"/>
    </p:embeddedFont>
    <p:embeddedFont>
      <p:font typeface="Arimo Bold" charset="1" panose="020B0704020202020204"/>
      <p:regular r:id="rId20"/>
    </p:embeddedFont>
    <p:embeddedFont>
      <p:font typeface="Decalotype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75172"/>
            <a:ext cx="14193588" cy="7651749"/>
            <a:chOff x="0" y="0"/>
            <a:chExt cx="18924784" cy="1020233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0"/>
              <a:ext cx="18924784" cy="6343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00"/>
                </a:lnSpc>
              </a:pPr>
              <a:r>
                <a:rPr lang="en-US" sz="15000" b="true">
                  <a:gradFill>
                    <a:gsLst>
                      <a:gs pos="0">
                        <a:srgbClr val="5DE0E6">
                          <a:alpha val="100000"/>
                        </a:srgbClr>
                      </a:gs>
                      <a:gs pos="100000">
                        <a:srgbClr val="004AAD">
                          <a:alpha val="100000"/>
                        </a:srgbClr>
                      </a:gs>
                    </a:gsLst>
                    <a:lin ang="0"/>
                  </a:gradFill>
                  <a:latin typeface="Decalotype Semi-Bold"/>
                  <a:ea typeface="Decalotype Semi-Bold"/>
                  <a:cs typeface="Decalotype Semi-Bold"/>
                  <a:sym typeface="Decalotype Semi-Bold"/>
                </a:rPr>
                <a:t>İleri Excel Projesi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492875"/>
              <a:ext cx="18924784" cy="3709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gradFill>
                    <a:gsLst>
                      <a:gs pos="0">
                        <a:srgbClr val="5DE0E6">
                          <a:alpha val="100000"/>
                        </a:srgbClr>
                      </a:gs>
                      <a:gs pos="100000">
                        <a:srgbClr val="004AAD">
                          <a:alpha val="100000"/>
                        </a:srgbClr>
                      </a:gs>
                    </a:gsLst>
                    <a:lin ang="0"/>
                  </a:gradFill>
                  <a:latin typeface="Decalotype Light"/>
                  <a:ea typeface="Decalotype Light"/>
                  <a:cs typeface="Decalotype Light"/>
                  <a:sym typeface="Decalotype Light"/>
                </a:rPr>
                <a:t>Zeynep Kaya 23219010</a:t>
              </a:r>
            </a:p>
            <a:p>
              <a:pPr algn="l">
                <a:lnSpc>
                  <a:spcPts val="5600"/>
                </a:lnSpc>
              </a:pPr>
              <a:r>
                <a:rPr lang="en-US" sz="4000">
                  <a:gradFill>
                    <a:gsLst>
                      <a:gs pos="0">
                        <a:srgbClr val="5DE0E6">
                          <a:alpha val="100000"/>
                        </a:srgbClr>
                      </a:gs>
                      <a:gs pos="100000">
                        <a:srgbClr val="004AAD">
                          <a:alpha val="100000"/>
                        </a:srgbClr>
                      </a:gs>
                    </a:gsLst>
                    <a:lin ang="0"/>
                  </a:gradFill>
                  <a:latin typeface="Decalotype Light"/>
                  <a:ea typeface="Decalotype Light"/>
                  <a:cs typeface="Decalotype Light"/>
                  <a:sym typeface="Decalotype Light"/>
                </a:rPr>
                <a:t>Zeynep Şahin 23219506</a:t>
              </a:r>
            </a:p>
            <a:p>
              <a:pPr algn="l">
                <a:lnSpc>
                  <a:spcPts val="5600"/>
                </a:lnSpc>
              </a:pPr>
              <a:r>
                <a:rPr lang="en-US" sz="4000">
                  <a:gradFill>
                    <a:gsLst>
                      <a:gs pos="0">
                        <a:srgbClr val="5DE0E6">
                          <a:alpha val="100000"/>
                        </a:srgbClr>
                      </a:gs>
                      <a:gs pos="100000">
                        <a:srgbClr val="004AAD">
                          <a:alpha val="100000"/>
                        </a:srgbClr>
                      </a:gs>
                    </a:gsLst>
                    <a:lin ang="0"/>
                  </a:gradFill>
                  <a:latin typeface="Decalotype Light"/>
                  <a:ea typeface="Decalotype Light"/>
                  <a:cs typeface="Decalotype Light"/>
                  <a:sym typeface="Decalotype Light"/>
                </a:rPr>
                <a:t>Mehmet Ali Özhan 23238606</a:t>
              </a:r>
            </a:p>
            <a:p>
              <a:pPr algn="l">
                <a:lnSpc>
                  <a:spcPts val="56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5200" y="3044082"/>
            <a:ext cx="8398151" cy="1201314"/>
          </a:xfrm>
          <a:custGeom>
            <a:avLst/>
            <a:gdLst/>
            <a:ahLst/>
            <a:cxnLst/>
            <a:rect r="r" b="b" t="t" l="l"/>
            <a:pathLst>
              <a:path h="1201314" w="8398151">
                <a:moveTo>
                  <a:pt x="0" y="0"/>
                </a:moveTo>
                <a:lnTo>
                  <a:pt x="8398151" y="0"/>
                </a:lnTo>
                <a:lnTo>
                  <a:pt x="8398151" y="1201314"/>
                </a:lnTo>
                <a:lnTo>
                  <a:pt x="0" y="12013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065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99265" y="5143500"/>
            <a:ext cx="5441774" cy="1282087"/>
          </a:xfrm>
          <a:custGeom>
            <a:avLst/>
            <a:gdLst/>
            <a:ahLst/>
            <a:cxnLst/>
            <a:rect r="r" b="b" t="t" l="l"/>
            <a:pathLst>
              <a:path h="1282087" w="5441774">
                <a:moveTo>
                  <a:pt x="0" y="0"/>
                </a:moveTo>
                <a:lnTo>
                  <a:pt x="5441773" y="0"/>
                </a:lnTo>
                <a:lnTo>
                  <a:pt x="5441773" y="1282087"/>
                </a:lnTo>
                <a:lnTo>
                  <a:pt x="0" y="1282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423" r="0" b="-1163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49617" y="4245396"/>
            <a:ext cx="5866821" cy="1385641"/>
          </a:xfrm>
          <a:custGeom>
            <a:avLst/>
            <a:gdLst/>
            <a:ahLst/>
            <a:cxnLst/>
            <a:rect r="r" b="b" t="t" l="l"/>
            <a:pathLst>
              <a:path h="1385641" w="5866821">
                <a:moveTo>
                  <a:pt x="0" y="0"/>
                </a:moveTo>
                <a:lnTo>
                  <a:pt x="5866820" y="0"/>
                </a:lnTo>
                <a:lnTo>
                  <a:pt x="5866820" y="1385642"/>
                </a:lnTo>
                <a:lnTo>
                  <a:pt x="0" y="1385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713" r="-4759" b="-1865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6913124"/>
            <a:ext cx="5639027" cy="1459269"/>
          </a:xfrm>
          <a:custGeom>
            <a:avLst/>
            <a:gdLst/>
            <a:ahLst/>
            <a:cxnLst/>
            <a:rect r="r" b="b" t="t" l="l"/>
            <a:pathLst>
              <a:path h="1459269" w="5639027">
                <a:moveTo>
                  <a:pt x="0" y="0"/>
                </a:moveTo>
                <a:lnTo>
                  <a:pt x="5639027" y="0"/>
                </a:lnTo>
                <a:lnTo>
                  <a:pt x="5639027" y="1459269"/>
                </a:lnTo>
                <a:lnTo>
                  <a:pt x="0" y="145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360" r="0" b="-3471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5653" y="275915"/>
            <a:ext cx="1733431" cy="103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5"/>
              </a:lnSpc>
            </a:pPr>
            <a:r>
              <a:rPr lang="en-US" sz="598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Giriş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200" y="1247729"/>
            <a:ext cx="17097599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Veri seti oluştururken İD,İSİM,SOYİSİM CİNSİYET bulunan hazır veri setine yaş ve cv değerlerindirmelerindeki nitelikler eklenerek ihtiyacımız olan veri setini oluşturduk.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5653" y="8960803"/>
            <a:ext cx="8370126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Bu süreçte rastgelearada fonksiyonu ile değerler atadık.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742" y="1028700"/>
            <a:ext cx="17814516" cy="4129629"/>
          </a:xfrm>
          <a:custGeom>
            <a:avLst/>
            <a:gdLst/>
            <a:ahLst/>
            <a:cxnLst/>
            <a:rect r="r" b="b" t="t" l="l"/>
            <a:pathLst>
              <a:path h="4129629" w="17814516">
                <a:moveTo>
                  <a:pt x="0" y="0"/>
                </a:moveTo>
                <a:lnTo>
                  <a:pt x="17814516" y="0"/>
                </a:lnTo>
                <a:lnTo>
                  <a:pt x="17814516" y="4129629"/>
                </a:lnTo>
                <a:lnTo>
                  <a:pt x="0" y="412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6742" y="5438157"/>
            <a:ext cx="17814516" cy="4848843"/>
          </a:xfrm>
          <a:custGeom>
            <a:avLst/>
            <a:gdLst/>
            <a:ahLst/>
            <a:cxnLst/>
            <a:rect r="r" b="b" t="t" l="l"/>
            <a:pathLst>
              <a:path h="4848843" w="17814516">
                <a:moveTo>
                  <a:pt x="0" y="0"/>
                </a:moveTo>
                <a:lnTo>
                  <a:pt x="17814516" y="0"/>
                </a:lnTo>
                <a:lnTo>
                  <a:pt x="17814516" y="4848843"/>
                </a:lnTo>
                <a:lnTo>
                  <a:pt x="0" y="4848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6742" y="172086"/>
            <a:ext cx="9524048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Mesleklere özel gerekli şartların olduğu bir tablo oluşturuldu.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3630" y="5453218"/>
            <a:ext cx="9859657" cy="1386209"/>
          </a:xfrm>
          <a:custGeom>
            <a:avLst/>
            <a:gdLst/>
            <a:ahLst/>
            <a:cxnLst/>
            <a:rect r="r" b="b" t="t" l="l"/>
            <a:pathLst>
              <a:path h="1386209" w="9859657">
                <a:moveTo>
                  <a:pt x="0" y="0"/>
                </a:moveTo>
                <a:lnTo>
                  <a:pt x="9859657" y="0"/>
                </a:lnTo>
                <a:lnTo>
                  <a:pt x="9859657" y="1386209"/>
                </a:lnTo>
                <a:lnTo>
                  <a:pt x="0" y="1386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3605" y="2156650"/>
            <a:ext cx="16145695" cy="178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Mezun olunan üniversite durumu için bir üniversite tablosu oluşturuldu ve her üniversiteye bir sayı atandı,ratgelearada ile her kişi için bir sayı oluşturuldu ve düşeyara fonksiyonu ile üniversiteler karışık                 olarak belirlendi.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73" y="5996451"/>
            <a:ext cx="17949653" cy="1311857"/>
          </a:xfrm>
          <a:custGeom>
            <a:avLst/>
            <a:gdLst/>
            <a:ahLst/>
            <a:cxnLst/>
            <a:rect r="r" b="b" t="t" l="l"/>
            <a:pathLst>
              <a:path h="1311857" w="17949653">
                <a:moveTo>
                  <a:pt x="0" y="0"/>
                </a:moveTo>
                <a:lnTo>
                  <a:pt x="17949654" y="0"/>
                </a:lnTo>
                <a:lnTo>
                  <a:pt x="17949654" y="1311857"/>
                </a:lnTo>
                <a:lnTo>
                  <a:pt x="0" y="1311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4" r="0" b="-2047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7651" y="1408807"/>
            <a:ext cx="8972193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Öncelikle Power Query de cinsiyeti null olanlar temizlendi.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7651" y="2685921"/>
            <a:ext cx="11372707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Ardından cinsiyeti erkek olup ve askerlik durumu 0 olanlar temizlendi.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869" y="3963036"/>
            <a:ext cx="18038131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Meslekler tablosunda tuttuğumuz şartlara göre Eğer fonksiyonu kullanılarak her kişinin her meslek                           için ayrı ayrı uygunluk durumu sorgulandı.           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43500"/>
            <a:ext cx="18288000" cy="3451860"/>
          </a:xfrm>
          <a:custGeom>
            <a:avLst/>
            <a:gdLst/>
            <a:ahLst/>
            <a:cxnLst/>
            <a:rect r="r" b="b" t="t" l="l"/>
            <a:pathLst>
              <a:path h="3451860" w="18288000">
                <a:moveTo>
                  <a:pt x="0" y="0"/>
                </a:moveTo>
                <a:lnTo>
                  <a:pt x="18288000" y="0"/>
                </a:lnTo>
                <a:lnTo>
                  <a:pt x="18288000" y="3451860"/>
                </a:lnTo>
                <a:lnTo>
                  <a:pt x="0" y="3451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3350" y="1793492"/>
            <a:ext cx="18044650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Filtreleme yardımıyla uygun olan veriler başka bir sayfaya aktarıldı ve niteliklerin katsayılarına göre bir CV puanı oluşturuldu.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3821" y="3735196"/>
            <a:ext cx="13602772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Puan oluşturulurken nitelikler tablosundan katsayılar düşeyara ile çekilerek hesaplandı.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53604" y="6762432"/>
            <a:ext cx="13779071" cy="1102326"/>
          </a:xfrm>
          <a:custGeom>
            <a:avLst/>
            <a:gdLst/>
            <a:ahLst/>
            <a:cxnLst/>
            <a:rect r="r" b="b" t="t" l="l"/>
            <a:pathLst>
              <a:path h="1102326" w="13779071">
                <a:moveTo>
                  <a:pt x="0" y="0"/>
                </a:moveTo>
                <a:lnTo>
                  <a:pt x="13779071" y="0"/>
                </a:lnTo>
                <a:lnTo>
                  <a:pt x="13779071" y="1102326"/>
                </a:lnTo>
                <a:lnTo>
                  <a:pt x="0" y="11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21408" y="8078164"/>
            <a:ext cx="6045185" cy="1180136"/>
          </a:xfrm>
          <a:custGeom>
            <a:avLst/>
            <a:gdLst/>
            <a:ahLst/>
            <a:cxnLst/>
            <a:rect r="r" b="b" t="t" l="l"/>
            <a:pathLst>
              <a:path h="1180136" w="6045185">
                <a:moveTo>
                  <a:pt x="0" y="0"/>
                </a:moveTo>
                <a:lnTo>
                  <a:pt x="6045184" y="0"/>
                </a:lnTo>
                <a:lnTo>
                  <a:pt x="6045184" y="1180136"/>
                </a:lnTo>
                <a:lnTo>
                  <a:pt x="0" y="11801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4819968"/>
            <a:ext cx="18288000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Üniversitelerin içerisinden  TOP50  ünvanına sahip olanlar filtrelenerek yeni bir tablo oluşturuldu .Eğer Düşeyara ve Eğerhata fonksiyonları kullanılarak eğer kişi TOP50 den mezun ise CV puanına 5 puan eklendi.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1258215"/>
            <a:ext cx="18288000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Bu oluşturulan puanlar üzerinden alt uç sınır ve üst uç sınır hesaplamaları yapıldı fakat eleme durumunda sadece alt uç sınır değerlendirildi çünü cv punı ne kadar yüksekse o kadar iyi.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3138644"/>
            <a:ext cx="18288000" cy="11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Yine aynı puan üzerinden zskorlarda hesaplandı tüm temizlemelerin ardından 50.000 veri ile başladığımız süreç yaklaşık 1.600 veri ile son buldu 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9718" y="2492793"/>
            <a:ext cx="17237177" cy="7410515"/>
          </a:xfrm>
          <a:custGeom>
            <a:avLst/>
            <a:gdLst/>
            <a:ahLst/>
            <a:cxnLst/>
            <a:rect r="r" b="b" t="t" l="l"/>
            <a:pathLst>
              <a:path h="7410515" w="17237177">
                <a:moveTo>
                  <a:pt x="0" y="0"/>
                </a:moveTo>
                <a:lnTo>
                  <a:pt x="17237177" y="0"/>
                </a:lnTo>
                <a:lnTo>
                  <a:pt x="17237177" y="7410515"/>
                </a:lnTo>
                <a:lnTo>
                  <a:pt x="0" y="7410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48" r="0" b="-84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9718" y="572411"/>
            <a:ext cx="17978282" cy="178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Dashboardu dinamik hale getirmekiçin dilimleyici eklenmesi gerekiyordu fakat mevcut veri seti buna elverişli olmadığı için Power Query de meslekler harici her sütunu seçip sabitledik.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1175" y="2200096"/>
            <a:ext cx="17365650" cy="7366709"/>
          </a:xfrm>
          <a:custGeom>
            <a:avLst/>
            <a:gdLst/>
            <a:ahLst/>
            <a:cxnLst/>
            <a:rect r="r" b="b" t="t" l="l"/>
            <a:pathLst>
              <a:path h="7366709" w="17365650">
                <a:moveTo>
                  <a:pt x="0" y="0"/>
                </a:moveTo>
                <a:lnTo>
                  <a:pt x="17365650" y="0"/>
                </a:lnTo>
                <a:lnTo>
                  <a:pt x="17365650" y="7366709"/>
                </a:lnTo>
                <a:lnTo>
                  <a:pt x="0" y="73667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69" r="0" b="-136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1175" y="962025"/>
            <a:ext cx="12200811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Yeni oluş</a:t>
            </a:r>
            <a:r>
              <a:rPr lang="en-US" sz="3400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an Değer sütununu da filteleyip o mesleği yapabilecek olanları seçtik.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1613" y="2064848"/>
            <a:ext cx="4878865" cy="1911607"/>
          </a:xfrm>
          <a:custGeom>
            <a:avLst/>
            <a:gdLst/>
            <a:ahLst/>
            <a:cxnLst/>
            <a:rect r="r" b="b" t="t" l="l"/>
            <a:pathLst>
              <a:path h="1911607" w="4878865">
                <a:moveTo>
                  <a:pt x="0" y="0"/>
                </a:moveTo>
                <a:lnTo>
                  <a:pt x="4878865" y="0"/>
                </a:lnTo>
                <a:lnTo>
                  <a:pt x="4878865" y="1911607"/>
                </a:lnTo>
                <a:lnTo>
                  <a:pt x="0" y="1911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45" r="0" b="-144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20202" y="2064848"/>
            <a:ext cx="5433851" cy="1846523"/>
          </a:xfrm>
          <a:custGeom>
            <a:avLst/>
            <a:gdLst/>
            <a:ahLst/>
            <a:cxnLst/>
            <a:rect r="r" b="b" t="t" l="l"/>
            <a:pathLst>
              <a:path h="1846523" w="5433851">
                <a:moveTo>
                  <a:pt x="0" y="0"/>
                </a:moveTo>
                <a:lnTo>
                  <a:pt x="5433851" y="0"/>
                </a:lnTo>
                <a:lnTo>
                  <a:pt x="5433851" y="1846523"/>
                </a:lnTo>
                <a:lnTo>
                  <a:pt x="0" y="1846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1613" y="7747235"/>
            <a:ext cx="10502440" cy="2013397"/>
          </a:xfrm>
          <a:custGeom>
            <a:avLst/>
            <a:gdLst/>
            <a:ahLst/>
            <a:cxnLst/>
            <a:rect r="r" b="b" t="t" l="l"/>
            <a:pathLst>
              <a:path h="2013397" w="10502440">
                <a:moveTo>
                  <a:pt x="0" y="0"/>
                </a:moveTo>
                <a:lnTo>
                  <a:pt x="10502440" y="0"/>
                </a:lnTo>
                <a:lnTo>
                  <a:pt x="10502440" y="2013398"/>
                </a:lnTo>
                <a:lnTo>
                  <a:pt x="0" y="2013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31" r="0" b="-243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1613" y="4208850"/>
            <a:ext cx="10502440" cy="3245314"/>
          </a:xfrm>
          <a:custGeom>
            <a:avLst/>
            <a:gdLst/>
            <a:ahLst/>
            <a:cxnLst/>
            <a:rect r="r" b="b" t="t" l="l"/>
            <a:pathLst>
              <a:path h="3245314" w="10502440">
                <a:moveTo>
                  <a:pt x="0" y="0"/>
                </a:moveTo>
                <a:lnTo>
                  <a:pt x="10502440" y="0"/>
                </a:lnTo>
                <a:lnTo>
                  <a:pt x="10502440" y="3245314"/>
                </a:lnTo>
                <a:lnTo>
                  <a:pt x="0" y="32453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084" r="0" b="-208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44553" y="2064848"/>
            <a:ext cx="6963288" cy="7773386"/>
          </a:xfrm>
          <a:custGeom>
            <a:avLst/>
            <a:gdLst/>
            <a:ahLst/>
            <a:cxnLst/>
            <a:rect r="r" b="b" t="t" l="l"/>
            <a:pathLst>
              <a:path h="7773386" w="6963288">
                <a:moveTo>
                  <a:pt x="0" y="0"/>
                </a:moveTo>
                <a:lnTo>
                  <a:pt x="6963289" y="0"/>
                </a:lnTo>
                <a:lnTo>
                  <a:pt x="6963289" y="7773387"/>
                </a:lnTo>
                <a:lnTo>
                  <a:pt x="0" y="7773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85" t="0" r="-490" b="-21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57475" y="952500"/>
            <a:ext cx="10173049" cy="594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6"/>
              </a:lnSpc>
              <a:spcBef>
                <a:spcPct val="0"/>
              </a:spcBef>
            </a:pPr>
            <a:r>
              <a:rPr lang="en-US" sz="3433">
                <a:solidFill>
                  <a:srgbClr val="000000"/>
                </a:solidFill>
                <a:latin typeface="Decalotype Light"/>
                <a:ea typeface="Decalotype Light"/>
                <a:cs typeface="Decalotype Light"/>
                <a:sym typeface="Decalotype Light"/>
              </a:rPr>
              <a:t>Dashboardda yer almasını istediğimiz pivot tablelar oluşturuldu.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1837" y="3503462"/>
            <a:ext cx="11940680" cy="3280075"/>
          </a:xfrm>
          <a:custGeom>
            <a:avLst/>
            <a:gdLst/>
            <a:ahLst/>
            <a:cxnLst/>
            <a:rect r="r" b="b" t="t" l="l"/>
            <a:pathLst>
              <a:path h="3280075" w="11940680">
                <a:moveTo>
                  <a:pt x="0" y="0"/>
                </a:moveTo>
                <a:lnTo>
                  <a:pt x="11940680" y="0"/>
                </a:lnTo>
                <a:lnTo>
                  <a:pt x="11940680" y="3280076"/>
                </a:lnTo>
                <a:lnTo>
                  <a:pt x="0" y="3280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4" r="0" b="-151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81785" y="453510"/>
            <a:ext cx="5054030" cy="9274979"/>
          </a:xfrm>
          <a:custGeom>
            <a:avLst/>
            <a:gdLst/>
            <a:ahLst/>
            <a:cxnLst/>
            <a:rect r="r" b="b" t="t" l="l"/>
            <a:pathLst>
              <a:path h="9274979" w="5054030">
                <a:moveTo>
                  <a:pt x="0" y="0"/>
                </a:moveTo>
                <a:lnTo>
                  <a:pt x="5054031" y="0"/>
                </a:lnTo>
                <a:lnTo>
                  <a:pt x="5054031" y="9274979"/>
                </a:lnTo>
                <a:lnTo>
                  <a:pt x="0" y="9274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858274"/>
            <a:ext cx="18288000" cy="7400026"/>
          </a:xfrm>
          <a:custGeom>
            <a:avLst/>
            <a:gdLst/>
            <a:ahLst/>
            <a:cxnLst/>
            <a:rect r="r" b="b" t="t" l="l"/>
            <a:pathLst>
              <a:path h="7400026" w="18288000">
                <a:moveTo>
                  <a:pt x="0" y="0"/>
                </a:moveTo>
                <a:lnTo>
                  <a:pt x="18288000" y="0"/>
                </a:lnTo>
                <a:lnTo>
                  <a:pt x="18288000" y="7400026"/>
                </a:lnTo>
                <a:lnTo>
                  <a:pt x="0" y="7400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8" t="0" r="-77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71647" y="641350"/>
            <a:ext cx="2948288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DAG8OGzR67o</dc:identifier>
  <dcterms:modified xsi:type="dcterms:W3CDTF">2011-08-01T06:04:30Z</dcterms:modified>
  <cp:revision>1</cp:revision>
  <dc:title>Paragraf metniniz</dc:title>
</cp:coreProperties>
</file>